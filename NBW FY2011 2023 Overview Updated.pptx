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rgbClr val="00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21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 $100K</c:v>
                  </c:pt>
                  <c:pt idx="1">
                    <c:v>$100K–
$250K</c:v>
                  </c:pt>
                  <c:pt idx="2">
                    <c:v>$250K–
$500K</c:v>
                  </c:pt>
                  <c:pt idx="3">
                    <c:v>$500K–
$750K</c:v>
                  </c:pt>
                  <c:pt idx="4">
                    <c:v>$750K–$1M</c:v>
                  </c:pt>
                  <c:pt idx="5">
                    <c:v>&gt; $1M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175</c:v>
                </c:pt>
                <c:pt idx="1">
                  <c:v>48</c:v>
                </c:pt>
                <c:pt idx="2">
                  <c:v>38</c:v>
                </c:pt>
                <c:pt idx="3">
                  <c:v>20</c:v>
                </c:pt>
                <c:pt idx="4">
                  <c:v>8</c:v>
                </c:pt>
                <c:pt idx="5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21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Jobs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A6E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bubble3D val="0"/>
            <c:spPr>
              <a:solidFill>
                <a:srgbClr val="A7C9C7"/>
              </a:solidFill>
              <a:effectLst/>
            </c:spPr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Baltimore</c:v>
                </c:pt>
                <c:pt idx="1">
                  <c:v>Elkton</c:v>
                </c:pt>
                <c:pt idx="2">
                  <c:v>Cambridge</c:v>
                </c:pt>
                <c:pt idx="3">
                  <c:v>Bowie / Laurel</c:v>
                </c:pt>
                <c:pt idx="4">
                  <c:v>Other Cities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52</c:v>
                </c:pt>
                <c:pt idx="1">
                  <c:v>13</c:v>
                </c:pt>
                <c:pt idx="2">
                  <c:v>4</c:v>
                </c:pt>
                <c:pt idx="3">
                  <c:v>3</c:v>
                </c:pt>
                <c:pt idx="4">
                  <c:v>28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70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EEF4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R Y L A N D   D H C 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007A6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841248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Neighborhood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2011 – 2023  ·  Program Performance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· Small Business Lending Program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622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Matos Cruz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498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 Projects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97480" y="4498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Cities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4498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$118.9M  in Funding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95160" y="4498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4,668 Jobs  Created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Business Works  ·  FY 2011–2023  ·  State of Maryland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07008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81328"/>
            <a:ext cx="1965960" cy="201168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070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$118.9M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" y="25603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across 13 fiscal years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207008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07008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481328"/>
            <a:ext cx="1965960" cy="201168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2070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Funded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7190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60320" y="25603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Maryland communities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90288" y="1207008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1207008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1481328"/>
            <a:ext cx="1965960" cy="201168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12070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Reached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0288" y="17190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681728" y="25603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project locations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11696" y="1207008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11696" y="1207008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11696" y="1481328"/>
            <a:ext cx="1965960" cy="201168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12070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Created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1696" y="17190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4,668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803136" y="25603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employment impact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3520440"/>
            <a:ext cx="8458200" cy="475488"/>
          </a:xfrm>
          <a:prstGeom prst="roundRect">
            <a:avLst>
              <a:gd name="adj" fmla="val 19231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38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grant: $387,200   ·   Largest single award: $15.0M   ·   Smallest award: $5,000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by City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cities by total funds allocated  ·  FY 2011–2023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84832" y="1225296"/>
            <a:ext cx="5669280" cy="265176"/>
          </a:xfrm>
          <a:prstGeom prst="roundRect">
            <a:avLst>
              <a:gd name="adj" fmla="val 17241"/>
            </a:avLst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45552" y="1207008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9105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Elkton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84832" y="1609344"/>
            <a:ext cx="773084" cy="265176"/>
          </a:xfrm>
          <a:prstGeom prst="roundRect">
            <a:avLst>
              <a:gd name="adj" fmla="val 1724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9356" y="1591056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Catonsville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84832" y="1993392"/>
            <a:ext cx="515389" cy="265176"/>
          </a:xfrm>
          <a:prstGeom prst="roundRect">
            <a:avLst>
              <a:gd name="adj" fmla="val 1724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1661" y="1975104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Ellicott City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84832" y="2377440"/>
            <a:ext cx="343593" cy="265176"/>
          </a:xfrm>
          <a:prstGeom prst="roundRect">
            <a:avLst>
              <a:gd name="adj" fmla="val 1724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9865" y="235915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84832" y="2761488"/>
            <a:ext cx="343593" cy="265176"/>
          </a:xfrm>
          <a:prstGeom prst="roundRect">
            <a:avLst>
              <a:gd name="adj" fmla="val 1724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9865" y="274320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84832" y="3145536"/>
            <a:ext cx="171796" cy="265176"/>
          </a:xfrm>
          <a:prstGeom prst="roundRect">
            <a:avLst>
              <a:gd name="adj" fmla="val 2661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8068" y="3127248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1129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84832" y="3529584"/>
            <a:ext cx="171796" cy="265176"/>
          </a:xfrm>
          <a:prstGeom prst="roundRect">
            <a:avLst>
              <a:gd name="adj" fmla="val 2661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48068" y="3511296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84832" y="3913632"/>
            <a:ext cx="171796" cy="265176"/>
          </a:xfrm>
          <a:prstGeom prst="roundRect">
            <a:avLst>
              <a:gd name="adj" fmla="val 2661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48068" y="3895344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7939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Cumberland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84832" y="4297680"/>
            <a:ext cx="164592" cy="265176"/>
          </a:xfrm>
          <a:prstGeom prst="roundRect">
            <a:avLst>
              <a:gd name="adj" fmla="val 2777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40864" y="427939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Annapolis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84832" y="4681728"/>
            <a:ext cx="164592" cy="265176"/>
          </a:xfrm>
          <a:prstGeom prst="roundRect">
            <a:avLst>
              <a:gd name="adj" fmla="val 2777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40864" y="466344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4832" y="47365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Projects Funded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Size Distribution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projects by funding range  ·  FY 2011–2023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70432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207008"/>
            <a:ext cx="2834640" cy="1024128"/>
          </a:xfrm>
          <a:prstGeom prst="roundRect">
            <a:avLst>
              <a:gd name="adj" fmla="val 8929"/>
            </a:avLst>
          </a:prstGeom>
          <a:solidFill>
            <a:srgbClr val="EEF4F7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114032" y="1335024"/>
            <a:ext cx="16093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projects
</a:t>
            </a:r>
            <a:pPr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under $100K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89320" y="2414016"/>
            <a:ext cx="2834640" cy="1024128"/>
          </a:xfrm>
          <a:prstGeom prst="roundRect">
            <a:avLst>
              <a:gd name="adj" fmla="val 8929"/>
            </a:avLst>
          </a:prstGeom>
          <a:solidFill>
            <a:srgbClr val="EEF4F7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24871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114032" y="2542032"/>
            <a:ext cx="16093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projects
</a:t>
            </a:r>
            <a:pPr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between $100K and $250K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3621024"/>
            <a:ext cx="2834640" cy="1024128"/>
          </a:xfrm>
          <a:prstGeom prst="roundRect">
            <a:avLst>
              <a:gd name="adj" fmla="val 8929"/>
            </a:avLst>
          </a:prstGeom>
          <a:solidFill>
            <a:srgbClr val="EEF4F7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80760" y="369417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114032" y="3749040"/>
            <a:ext cx="16093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projects
</a:t>
            </a:r>
            <a:pPr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over $1M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cities by jobs created through NBW-funded projects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78992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97280"/>
            <a:ext cx="36118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21808" y="117043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4,668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382512" y="1207008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Jobs Created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12080" y="1938528"/>
            <a:ext cx="36118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21808" y="201168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382512" y="2048256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Baltimore alone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2779776"/>
            <a:ext cx="36118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21808" y="285292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382512" y="2889504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projects reported 0 jobs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12080" y="3621024"/>
            <a:ext cx="36118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0E8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21808" y="369417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382512" y="3730752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jobs per reporting project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Amount — Statistical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 ·  307 NBW projects  ·  FY 2011–2023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33856"/>
          <a:ext cx="4846320" cy="374904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</a:tblGrid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$14,995,000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$118,870,521.55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$387,200.40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(50th percentile)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Quartile (Q1 — 25th pct.)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Quartile (Q3 — 75th pct.)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Deviation (Population)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$1,151,822.11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Deviation (Sample)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$1,153,702.64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133856"/>
            <a:ext cx="3337560" cy="1097280"/>
          </a:xfrm>
          <a:prstGeom prst="roundRect">
            <a:avLst>
              <a:gd name="adj" fmla="val 8333"/>
            </a:avLst>
          </a:prstGeom>
          <a:solidFill>
            <a:srgbClr val="F5FAFA"/>
          </a:solidFill>
          <a:ln w="12700">
            <a:solidFill>
              <a:srgbClr val="D8EB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96128" y="1207008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vs. Median Gap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96128" y="1444752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$387K mean  vs.  $87.5K median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596128" y="1700784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large grants pull the average far above what a typical recipient receives.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2395728"/>
            <a:ext cx="3337560" cy="1097280"/>
          </a:xfrm>
          <a:prstGeom prst="roundRect">
            <a:avLst>
              <a:gd name="adj" fmla="val 8333"/>
            </a:avLst>
          </a:prstGeom>
          <a:solidFill>
            <a:srgbClr val="F5FAFA"/>
          </a:solidFill>
          <a:ln w="12700">
            <a:solidFill>
              <a:srgbClr val="D8EB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96128" y="2468880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Dispersion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96128" y="2706624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≈ 297%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96128" y="2962656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deviation ($1.15M) far exceeds the mean, reflecting extreme variation in award sizes.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3657600"/>
            <a:ext cx="3337560" cy="1097280"/>
          </a:xfrm>
          <a:prstGeom prst="roundRect">
            <a:avLst>
              <a:gd name="adj" fmla="val 8333"/>
            </a:avLst>
          </a:prstGeom>
          <a:solidFill>
            <a:srgbClr val="F5FAFA"/>
          </a:solidFill>
          <a:ln w="12700">
            <a:solidFill>
              <a:srgbClr val="D8EB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96128" y="3730752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Interquartile Range (IQR)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96128" y="3968496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= $310,000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596128" y="4224528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projects received between $40K (Q1) and $350K (Q3).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Maryland DHCD · Neighborhood Business Works FY 2011–2023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&amp; Whisker Plot — Grant Amount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and outlier analysis  ·  NBW FY 2011–2023  ·  N = 307 projects  ·  Log scale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0" y="2340864"/>
            <a:ext cx="3840480" cy="1261872"/>
          </a:xfrm>
          <a:prstGeom prst="rect">
            <a:avLst/>
          </a:prstGeom>
          <a:solidFill>
            <a:srgbClr val="B2DDD8">
              <a:alpha val="70000"/>
            </a:srgbClr>
          </a:solidFill>
          <a:ln w="19050">
            <a:solidFill>
              <a:srgbClr val="007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3163824"/>
            <a:ext cx="3840480" cy="0"/>
          </a:xfrm>
          <a:prstGeom prst="line">
            <a:avLst/>
          </a:prstGeom>
          <a:noFill/>
          <a:ln w="31750">
            <a:solidFill>
              <a:srgbClr val="0D21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1719072"/>
            <a:ext cx="0" cy="621792"/>
          </a:xfrm>
          <a:prstGeom prst="line">
            <a:avLst/>
          </a:prstGeom>
          <a:noFill/>
          <a:ln w="19050">
            <a:solidFill>
              <a:srgbClr val="007A6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931920" y="3602736"/>
            <a:ext cx="0" cy="740664"/>
          </a:xfrm>
          <a:prstGeom prst="line">
            <a:avLst/>
          </a:prstGeom>
          <a:noFill/>
          <a:ln w="19050">
            <a:solidFill>
              <a:srgbClr val="007A6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91840" y="1719072"/>
            <a:ext cx="1280160" cy="0"/>
          </a:xfrm>
          <a:prstGeom prst="line">
            <a:avLst/>
          </a:prstGeom>
          <a:noFill/>
          <a:ln w="19050">
            <a:solidFill>
              <a:srgbClr val="007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4343400"/>
            <a:ext cx="1280160" cy="0"/>
          </a:xfrm>
          <a:prstGeom prst="line">
            <a:avLst/>
          </a:prstGeom>
          <a:noFill/>
          <a:ln w="19050">
            <a:solidFill>
              <a:srgbClr val="007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969264"/>
            <a:ext cx="274320" cy="274320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22192" y="2542032"/>
            <a:ext cx="219456" cy="21945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606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$310K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078992"/>
            <a:ext cx="148132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932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$15,000,000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61888" y="9326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(outlier)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70448" y="1078992"/>
            <a:ext cx="47548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719072"/>
            <a:ext cx="148132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572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$1,022,500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61888" y="15727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fence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70448" y="1719072"/>
            <a:ext cx="47548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77440"/>
            <a:ext cx="148132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311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$350,000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61888" y="22311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75th pct.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70448" y="2377440"/>
            <a:ext cx="47548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606040"/>
            <a:ext cx="148132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4597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$387,200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61888" y="24597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70448" y="2606040"/>
            <a:ext cx="47548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154680"/>
            <a:ext cx="148132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08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$87,500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61888" y="30083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70448" y="3154680"/>
            <a:ext cx="47548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566160"/>
            <a:ext cx="148132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$40,000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61888" y="34198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25th pct.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70448" y="3566160"/>
            <a:ext cx="47548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343400"/>
            <a:ext cx="148132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970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61888" y="41970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fence / Min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70448" y="4343400"/>
            <a:ext cx="475488" cy="0"/>
          </a:xfrm>
          <a:prstGeom prst="line">
            <a:avLst/>
          </a:prstGeom>
          <a:noFill/>
          <a:ln w="6350">
            <a:solidFill>
              <a:srgbClr val="D0DC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645152"/>
            <a:ext cx="201168" cy="146304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460857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Box (Q1 to Q3)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39696" y="4645152"/>
            <a:ext cx="201168" cy="14630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460857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$87,500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22192" y="4645152"/>
            <a:ext cx="201168" cy="14630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59936" y="460857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$387,200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04688" y="4645152"/>
            <a:ext cx="201168" cy="146304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42432" y="460857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Outlier: $15,000,000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187184" y="4645152"/>
            <a:ext cx="201168" cy="146304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24928" y="460857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Whiskers (1.5× IQR)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Maryland DHCD · Neighborhood Business Works FY 2011–2023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 ·  NBW FY 2011–2023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132A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28016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26187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dominates — and that's a policy signal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received 66 of 307 funded projects and 52% of all jobs created. Geographic concentration this deep suggests the program may be underserving rural and suburban Maryland, warranting a more deliberate regional allocation strategy.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132A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51460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4963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businesses get small grants; a few get transformative ones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80720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awards were under $100K, yet 18 projects exceeded $1M. The top grant alone ($15M) is 3,000× larger than the smallest ($5K). This extreme spread indicates the program serves two very different borrower profiles within the same framework.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132A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74904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73075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misleading — the median tells the real story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404164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grant of $387K overstates what a typical business receives. The median is $87,500 — less than a quarter of the mean. Decision-makers relying on averages risk overestimating program accessibility for the typical applicant.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1188720"/>
            <a:ext cx="3383280" cy="1627632"/>
          </a:xfrm>
          <a:prstGeom prst="roundRect">
            <a:avLst>
              <a:gd name="adj" fmla="val 5618"/>
            </a:avLst>
          </a:prstGeom>
          <a:solidFill>
            <a:srgbClr val="132A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12801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59552" y="16093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projects reported zero jobs — a tracking gap, not a failure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9552" y="1993392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funded projects recorded no job creation, skewing the employment metric. This likely reflects inconsistent reporting standards, not underperformance. Standardizing outcome tracking would produce a more reliable picture of impact.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40680" y="3017520"/>
            <a:ext cx="3383280" cy="1627632"/>
          </a:xfrm>
          <a:prstGeom prst="roundRect">
            <a:avLst>
              <a:gd name="adj" fmla="val 5618"/>
            </a:avLst>
          </a:prstGeom>
          <a:solidFill>
            <a:srgbClr val="132A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31089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59552" y="34381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program's reach (67 cities) masks unequal depth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9552" y="3822192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across 67 cities is a strength, but most cities received only 1–2 projects. Sustained impact requires repeat investment in the same communities — single-project cities may not reach the scale needed for lasting economic change.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Maryland DHCD · Neighborhood Business Works FY 2011–2023  ·  Analysis by Fernanda Matos Cruz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Neighborhood Business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Maryland's small businesses and communities since 2011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A1E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105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$118.9M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5054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42032" y="173736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A1E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8105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42032" y="25054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26864" y="173736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A1E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8105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4,668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26864" y="25054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Created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11696" y="173736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A1E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8105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11696" y="25054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Served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Maryland DHCD · Neighborhood Business Works FY 2011–2023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dhcd.maryland.gov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using Excel, statistical analysis, and data visualization.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Maryland NBW Program Performance Overview FY 2011–2023</dc:title>
  <dc:subject>PptxGenJS Presentation</dc:subject>
  <dc:creator>Fernanda Matos Cruz</dc:creator>
  <cp:lastModifiedBy>Fernanda Matos Cruz</cp:lastModifiedBy>
  <cp:revision>1</cp:revision>
  <dcterms:created xsi:type="dcterms:W3CDTF">2026-06-28T21:24:29Z</dcterms:created>
  <dcterms:modified xsi:type="dcterms:W3CDTF">2026-06-28T21:24:29Z</dcterms:modified>
</cp:coreProperties>
</file>